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2383A5-31E9-4189-B74C-81C5E8119E0E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F6A90-A2CA-49FB-B938-AB86CA17B6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B2B417-4996-4DB0-BD0F-96626373D6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AB6CE9-F028-4D54-B9E6-1A2E29B065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19D71-D016-4867-BEB6-6793AB68EF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E7EB21-1C2D-49FF-B1F5-817FCAFD59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B7D3C-97F1-4CB3-8354-48E76C15DE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12344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300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MACHINE LEARNING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1645920"/>
            <a:ext cx="7863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Modelo de probabilidad de recompra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27432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Acciones de fidelización y retención de clientes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58080" y="3383280"/>
            <a:ext cx="2011680" cy="360"/>
          </a:xfrm>
          <a:prstGeom prst="line">
            <a:avLst/>
          </a:prstGeom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42976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Pau Gavilan  ·  Presentación al equipo de negocio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384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006d77"/>
                </a:solidFill>
                <a:effectLst/>
                <a:uFillTx/>
                <a:latin typeface="Calibri"/>
                <a:ea typeface="Calibri"/>
              </a:rPr>
              <a:t>01 · PUNTO DE PARTIDA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64008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3293d"/>
                </a:solidFill>
                <a:effectLst/>
                <a:uFillTx/>
                <a:latin typeface="Georgia"/>
                <a:ea typeface="Georgia"/>
              </a:rPr>
              <a:t>Objetivos e hipótesis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548640" y="1508760"/>
            <a:ext cx="3885840" cy="3154320"/>
          </a:xfrm>
          <a:prstGeom prst="roundRect">
            <a:avLst>
              <a:gd name="adj" fmla="val 2319"/>
            </a:avLst>
          </a:prstGeom>
          <a:solidFill>
            <a:srgbClr val="f2f6f7"/>
          </a:solidFill>
          <a:ln w="12700">
            <a:solidFill>
              <a:srgbClr val="dce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77240" y="16916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6d77"/>
                </a:solidFill>
                <a:effectLst/>
                <a:uFillTx/>
                <a:latin typeface="Georgia"/>
                <a:ea typeface="Georgia"/>
              </a:rPr>
              <a:t>Objetivo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77240" y="210312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Predecir la probabilidad de que un cliente </a:t>
            </a:r>
            <a:r>
              <a:rPr lang="en-US" sz="1400" b="1" u="none" strike="noStrike">
                <a:solidFill>
                  <a:srgbClr val="13293d"/>
                </a:solidFill>
                <a:effectLst/>
                <a:uFillTx/>
                <a:latin typeface="Calibri"/>
                <a:ea typeface="Calibri"/>
              </a:rPr>
              <a:t>vuelva a comprar</a:t>
            </a:r>
            <a:r>
              <a:rPr lang="en-US" sz="14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 para dirigir las acciones comerciales: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77240" y="3063240"/>
            <a:ext cx="3428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Alta probabilidad  →  fidelización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Baja probabilidad  →  retención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77240" y="397764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5b6b72"/>
                </a:solidFill>
                <a:effectLst/>
                <a:uFillTx/>
                <a:latin typeface="Calibri"/>
                <a:ea typeface="Calibri"/>
              </a:rPr>
              <a:t>Hipótesis: el comportamiento de compra pasado (RFM) predice la recompra futura.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4709160" y="1508760"/>
            <a:ext cx="3885840" cy="3154320"/>
          </a:xfrm>
          <a:prstGeom prst="roundRect">
            <a:avLst>
              <a:gd name="adj" fmla="val 2319"/>
            </a:avLst>
          </a:prstGeom>
          <a:solidFill>
            <a:srgbClr val="132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937760" y="16916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Qué excluimos del dataset (y por qué)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937760" y="2148840"/>
            <a:ext cx="3474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250" b="1" u="none" strike="noStrike">
                <a:solidFill>
                  <a:srgbClr val="e6eef0"/>
                </a:solidFill>
                <a:effectLst/>
                <a:uFillTx/>
                <a:latin typeface="Calibri"/>
                <a:ea typeface="Calibri"/>
              </a:rPr>
              <a:t>Sin Customer ID (22,8%)</a:t>
            </a:r>
            <a:r>
              <a:rPr lang="en-US" sz="125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  → el modelo es por cliente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e6eef0"/>
                </a:solidFill>
                <a:effectLst/>
                <a:uFillTx/>
                <a:latin typeface="Calibri"/>
                <a:ea typeface="Calibri"/>
              </a:rPr>
              <a:t>Cancelaciones (1,83%)</a:t>
            </a:r>
            <a:r>
              <a:rPr lang="en-US" sz="125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  → no son compras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e6eef0"/>
                </a:solidFill>
                <a:effectLst/>
                <a:uFillTx/>
                <a:latin typeface="Calibri"/>
                <a:ea typeface="Calibri"/>
              </a:rPr>
              <a:t>Quantity ≤ 0 / Price ≤ 0</a:t>
            </a:r>
            <a:r>
              <a:rPr lang="en-US" sz="125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  → devoluciones, regalos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e6eef0"/>
                </a:solidFill>
                <a:effectLst/>
                <a:uFillTx/>
                <a:latin typeface="Calibri"/>
                <a:ea typeface="Calibri"/>
              </a:rPr>
              <a:t>Duplicados exactos</a:t>
            </a:r>
            <a:r>
              <a:rPr lang="en-US" sz="125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  → ruido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4937760" y="388620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1.067.371</a:t>
            </a:r>
            <a:r>
              <a:rPr lang="en-US" sz="130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  transacciones  → 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779.425</a:t>
            </a:r>
            <a:r>
              <a:rPr lang="en-US" sz="1300" b="0" u="none" strike="noStrike">
                <a:solidFill>
                  <a:srgbClr val="9fb3ba"/>
                </a:solidFill>
                <a:effectLst/>
                <a:uFillTx/>
                <a:latin typeface="Calibri"/>
                <a:ea typeface="Calibri"/>
              </a:rPr>
              <a:t>  limpias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384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006d77"/>
                </a:solidFill>
                <a:effectLst/>
                <a:uFillTx/>
                <a:latin typeface="Calibri"/>
                <a:ea typeface="Calibri"/>
              </a:rPr>
              <a:t>02 · ANÁLISIS EXPLORATORIO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48640" y="64008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3293d"/>
                </a:solidFill>
                <a:effectLst/>
                <a:uFillTx/>
                <a:latin typeface="Georgia"/>
                <a:ea typeface="Georgia"/>
              </a:rPr>
              <a:t>Descriptivo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0" descr="/mnt/workspace/output/figuras/01_ventas_mensuales.png"/>
          <p:cNvPicPr/>
          <p:nvPr/>
        </p:nvPicPr>
        <p:blipFill>
          <a:blip r:embed="rId1"/>
          <a:stretch/>
        </p:blipFill>
        <p:spPr>
          <a:xfrm>
            <a:off x="502920" y="1417320"/>
            <a:ext cx="3840120" cy="170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Image 1" descr="/mnt/workspace/output/figuras/06_target.png"/>
          <p:cNvPicPr/>
          <p:nvPr/>
        </p:nvPicPr>
        <p:blipFill>
          <a:blip r:embed="rId2"/>
          <a:stretch/>
        </p:blipFill>
        <p:spPr>
          <a:xfrm>
            <a:off x="5074920" y="1481400"/>
            <a:ext cx="19198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2"/>
          <p:cNvSpPr/>
          <p:nvPr/>
        </p:nvSpPr>
        <p:spPr>
          <a:xfrm>
            <a:off x="7086600" y="1737360"/>
            <a:ext cx="1691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500" b="1" u="none" strike="noStrike">
                <a:solidFill>
                  <a:srgbClr val="13293d"/>
                </a:solidFill>
                <a:effectLst/>
                <a:uFillTx/>
                <a:latin typeface="Calibri"/>
                <a:ea typeface="Calibri"/>
              </a:rPr>
              <a:t>Target equilibrado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5b6b72"/>
                </a:solidFill>
                <a:effectLst/>
                <a:uFillTx/>
                <a:latin typeface="Calibri"/>
                <a:ea typeface="Calibri"/>
              </a:rPr>
              <a:t>52% de los clientes recompran tras el corte → no hay desbalanceo.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2" descr="/mnt/workspace/output/figuras/03_compras_por_cliente.png"/>
          <p:cNvPicPr/>
          <p:nvPr/>
        </p:nvPicPr>
        <p:blipFill>
          <a:blip r:embed="rId3"/>
          <a:stretch/>
        </p:blipFill>
        <p:spPr>
          <a:xfrm>
            <a:off x="502920" y="3273480"/>
            <a:ext cx="3840120" cy="17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Shape 3"/>
          <p:cNvSpPr/>
          <p:nvPr/>
        </p:nvSpPr>
        <p:spPr>
          <a:xfrm>
            <a:off x="4983480" y="3611880"/>
            <a:ext cx="3748680" cy="1462680"/>
          </a:xfrm>
          <a:prstGeom prst="roundRect">
            <a:avLst>
              <a:gd name="adj" fmla="val 5000"/>
            </a:avLst>
          </a:prstGeom>
          <a:solidFill>
            <a:srgbClr val="f2f6f7"/>
          </a:solidFill>
          <a:ln w="12700">
            <a:solidFill>
              <a:srgbClr val="dce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5212080" y="3749040"/>
            <a:ext cx="33372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500" b="1" u="none" strike="noStrike">
                <a:solidFill>
                  <a:srgbClr val="006d77"/>
                </a:solidFill>
                <a:effectLst/>
                <a:uFillTx/>
                <a:latin typeface="Calibri"/>
                <a:ea typeface="Calibri"/>
              </a:rPr>
              <a:t>Insights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5.878 clientes y 43 países; Reino Unido ≈ 92% del volumen.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El 72% de los clientes son recurrentes (más de una compra).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384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006d77"/>
                </a:solidFill>
                <a:effectLst/>
                <a:uFillTx/>
                <a:latin typeface="Calibri"/>
                <a:ea typeface="Calibri"/>
              </a:rPr>
              <a:t>03 · MODELIZACIÓN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64008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3293d"/>
                </a:solidFill>
                <a:effectLst/>
                <a:uFillTx/>
                <a:latin typeface="Georgia"/>
                <a:ea typeface="Georgia"/>
              </a:rPr>
              <a:t>El modelo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48640" y="15544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Variable objetivo construida con un corte temporal (09-jun-2011): RFM con datos previos, recompra observada en los 6 meses siguientes.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548640" y="260604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3293d"/>
                </a:solidFill>
                <a:effectLst/>
                <a:uFillTx/>
                <a:latin typeface="Calibri"/>
                <a:ea typeface="Calibri"/>
              </a:rPr>
              <a:t>Algoritmos probados: Regresión Logística · Random Forest · XGBoost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548640" y="3291840"/>
            <a:ext cx="3840120" cy="1371240"/>
          </a:xfrm>
          <a:prstGeom prst="roundRect">
            <a:avLst>
              <a:gd name="adj" fmla="val 5333"/>
            </a:avLst>
          </a:prstGeom>
          <a:solidFill>
            <a:srgbClr val="006d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777240" y="3429000"/>
            <a:ext cx="3382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AUC ≈ 0.80</a:t>
            </a:r>
            <a:endParaRPr lang="es-E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d7efef"/>
                </a:solidFill>
                <a:effectLst/>
                <a:uFillTx/>
                <a:latin typeface="Calibri"/>
                <a:ea typeface="Calibri"/>
              </a:rPr>
              <a:t>capacidad de discriminación sólida entre quién recompra y quién no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4617720" y="1554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3293d"/>
                </a:solidFill>
                <a:effectLst/>
                <a:uFillTx/>
                <a:latin typeface="Georgia"/>
                <a:ea typeface="Georgia"/>
              </a:rPr>
              <a:t>Variables más significativas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/mnt/workspace/output/figuras/05_importancia.png"/>
          <p:cNvPicPr/>
          <p:nvPr/>
        </p:nvPicPr>
        <p:blipFill>
          <a:blip r:embed="rId1"/>
          <a:stretch/>
        </p:blipFill>
        <p:spPr>
          <a:xfrm>
            <a:off x="4572000" y="1920240"/>
            <a:ext cx="4160160" cy="267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384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006d77"/>
                </a:solidFill>
                <a:effectLst/>
                <a:uFillTx/>
                <a:latin typeface="Calibri"/>
                <a:ea typeface="Calibri"/>
              </a:rPr>
              <a:t>04 · NEGOCIO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48640" y="64008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3293d"/>
                </a:solidFill>
                <a:effectLst/>
                <a:uFillTx/>
                <a:latin typeface="Georgia"/>
                <a:ea typeface="Georgia"/>
              </a:rPr>
              <a:t>Conclusiones y propuesta de uso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48640" y="148140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El modelo asigna a cada cliente un score 0-1 que ordena la base por probabilidad de recompra.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548640" y="2148840"/>
            <a:ext cx="3931560" cy="2514240"/>
          </a:xfrm>
          <a:prstGeom prst="roundRect">
            <a:avLst>
              <a:gd name="adj" fmla="val 2909"/>
            </a:avLst>
          </a:prstGeom>
          <a:solidFill>
            <a:srgbClr val="e6f4f1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777240" y="23317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06d5b"/>
                </a:solidFill>
                <a:effectLst/>
                <a:uFillTx/>
                <a:latin typeface="Georgia"/>
                <a:ea typeface="Georgia"/>
              </a:rPr>
              <a:t>Score ALTO  →  Fidelización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777240" y="2788920"/>
            <a:ext cx="3520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Clientes con alta probabilidad de volver.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Programa VIP y cross/up-sell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Recompensas por fidelidad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Anticipar la próxima compra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4663440" y="2148840"/>
            <a:ext cx="3931560" cy="2514240"/>
          </a:xfrm>
          <a:prstGeom prst="roundRect">
            <a:avLst>
              <a:gd name="adj" fmla="val 2909"/>
            </a:avLst>
          </a:prstGeom>
          <a:solidFill>
            <a:srgbClr val="f7eae7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4892040" y="23317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9a3b2e"/>
                </a:solidFill>
                <a:effectLst/>
                <a:uFillTx/>
                <a:latin typeface="Georgia"/>
                <a:ea typeface="Georgia"/>
              </a:rPr>
              <a:t>Score BAJO  →  Retención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4892040" y="2788920"/>
            <a:ext cx="3520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Clientes en riesgo de abandono.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Campañas de reactivación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Descuento / incentivo puntual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b2a30"/>
                </a:solidFill>
                <a:effectLst/>
                <a:uFillTx/>
                <a:latin typeface="Calibri"/>
                <a:ea typeface="Calibri"/>
              </a:rPr>
              <a:t>• Encuesta de motivos de abandono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640080" y="548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05 · QUÉ SIGUE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40080" y="8960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Próximos pasos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685800" y="1874520"/>
            <a:ext cx="502560" cy="502560"/>
          </a:xfrm>
          <a:prstGeom prst="ellipse">
            <a:avLst/>
          </a:prstGeom>
          <a:solidFill>
            <a:srgbClr val="006d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8580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417320" y="1828800"/>
            <a:ext cx="7131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Más variables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ec4cb"/>
                </a:solidFill>
                <a:effectLst/>
                <a:uFillTx/>
                <a:latin typeface="Calibri"/>
                <a:ea typeface="Calibri"/>
              </a:rPr>
              <a:t>Estacionalidad, categorías de producto y comportamiento en sesión.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685800" y="2624400"/>
            <a:ext cx="502560" cy="502560"/>
          </a:xfrm>
          <a:prstGeom prst="ellipse">
            <a:avLst/>
          </a:prstGeom>
          <a:solidFill>
            <a:srgbClr val="006d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685800" y="2624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1417320" y="2578680"/>
            <a:ext cx="7131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Otros enfoques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ec4cb"/>
                </a:solidFill>
                <a:effectLst/>
                <a:uFillTx/>
                <a:latin typeface="Calibri"/>
                <a:ea typeface="Calibri"/>
              </a:rPr>
              <a:t>Modelo de time-to-next-purchase (supervivencia) y cálculo de CLV.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685800" y="3374280"/>
            <a:ext cx="502560" cy="502560"/>
          </a:xfrm>
          <a:prstGeom prst="ellipse">
            <a:avLst/>
          </a:prstGeom>
          <a:solidFill>
            <a:srgbClr val="006d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85800" y="3374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1417320" y="3328560"/>
            <a:ext cx="7131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Validación robusta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ec4cb"/>
                </a:solidFill>
                <a:effectLst/>
                <a:uFillTx/>
                <a:latin typeface="Calibri"/>
                <a:ea typeface="Calibri"/>
              </a:rPr>
              <a:t>Ventana de corte móvil y recalibración periódica del modelo.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685800" y="4123800"/>
            <a:ext cx="502560" cy="502560"/>
          </a:xfrm>
          <a:prstGeom prst="ellipse">
            <a:avLst/>
          </a:prstGeom>
          <a:solidFill>
            <a:srgbClr val="006d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685800" y="41238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1417320" y="4078080"/>
            <a:ext cx="7131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Puesta en producción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ec4cb"/>
                </a:solidFill>
                <a:effectLst/>
                <a:uFillTx/>
                <a:latin typeface="Calibri"/>
                <a:ea typeface="Calibri"/>
              </a:rPr>
              <a:t>Scoring mensual integrado con el CRM y medición del ROI de las campañas.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2026-05-29T18:31:50Z</dcterms:created>
  <dc:creator>PptxGenJS</dc:creator>
  <dc:description/>
  <dc:language>es-ES</dc:language>
  <cp:lastModifiedBy/>
  <dcterms:modified xsi:type="dcterms:W3CDTF">2026-05-29T21:42:18Z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